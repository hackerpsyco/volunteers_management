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Lato"/>
      <p:regular r:id="rId31"/>
      <p:bold r:id="rId32"/>
      <p:italic r:id="rId33"/>
      <p:boldItalic r:id="rId34"/>
    </p:embeddedFont>
    <p:embeddedFont>
      <p:font typeface="Source Code Pr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35" Type="http://schemas.openxmlformats.org/officeDocument/2006/relationships/font" Target="fonts/SourceCodePro-regular.fntdata"/><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37" Type="http://schemas.openxmlformats.org/officeDocument/2006/relationships/font" Target="fonts/SourceCodePro-italic.fntdata"/><Relationship Id="rId14" Type="http://schemas.openxmlformats.org/officeDocument/2006/relationships/slide" Target="slides/slide9.xml"/><Relationship Id="rId36" Type="http://schemas.openxmlformats.org/officeDocument/2006/relationships/font" Target="fonts/SourceCodePr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SourceCodePr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55563f8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355563f8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1951c80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1951c80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1951c80d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1951c80d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95623e83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95623e83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61b8ca1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61b8ca1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95623e830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95623e83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346e7ae7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3346e7ae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95623e83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95623e83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95623e83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95623e83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395623e830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395623e830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395623e83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395623e83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95623e830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395623e83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95623e83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395623e83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95623e83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95623e83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395623e83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395623e83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395623e830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395623e830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395623e830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395623e830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395623e83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395623e83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724be4a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724be4a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395623e83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395623e83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drive.google.com/file/d/19tyeb5k3ZCuXPHLcFIwv9TUi43coXf4G/view" TargetMode="Externa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3"/>
          <p:cNvSpPr txBox="1"/>
          <p:nvPr>
            <p:ph idx="1" type="subTitle"/>
          </p:nvPr>
        </p:nvSpPr>
        <p:spPr>
          <a:xfrm>
            <a:off x="729625" y="3172900"/>
            <a:ext cx="7688100" cy="4116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b="1" lang="en-GB">
                <a:solidFill>
                  <a:schemeClr val="dk2"/>
                </a:solidFill>
              </a:rPr>
              <a:t>Guest </a:t>
            </a:r>
            <a:r>
              <a:rPr b="1" lang="en-GB">
                <a:solidFill>
                  <a:schemeClr val="dk2"/>
                </a:solidFill>
              </a:rPr>
              <a:t>Teacher</a:t>
            </a:r>
            <a:r>
              <a:rPr lang="en-GB">
                <a:solidFill>
                  <a:schemeClr val="dk2"/>
                </a:solidFill>
              </a:rPr>
              <a:t>: Add here your name</a:t>
            </a:r>
            <a:endParaRPr sz="2060" strike="sngStrike">
              <a:solidFill>
                <a:schemeClr val="dk2"/>
              </a:solidFill>
            </a:endParaRPr>
          </a:p>
        </p:txBody>
      </p:sp>
      <p:sp>
        <p:nvSpPr>
          <p:cNvPr id="87" name="Google Shape;87;p13"/>
          <p:cNvSpPr txBox="1"/>
          <p:nvPr>
            <p:ph type="ctrTitle"/>
          </p:nvPr>
        </p:nvSpPr>
        <p:spPr>
          <a:xfrm>
            <a:off x="729625" y="1977113"/>
            <a:ext cx="7688100" cy="98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Topic - Add here</a:t>
            </a:r>
            <a:endParaRPr/>
          </a:p>
        </p:txBody>
      </p:sp>
      <p:sp>
        <p:nvSpPr>
          <p:cNvPr id="88" name="Google Shape;88;p13"/>
          <p:cNvSpPr txBox="1"/>
          <p:nvPr>
            <p:ph idx="1" type="subTitle"/>
          </p:nvPr>
        </p:nvSpPr>
        <p:spPr>
          <a:xfrm>
            <a:off x="807071" y="1355225"/>
            <a:ext cx="7688100" cy="4116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b="1" lang="en-GB" sz="2060"/>
              <a:t>Welcome to the session!</a:t>
            </a:r>
            <a:endParaRPr b="1" sz="2060"/>
          </a:p>
        </p:txBody>
      </p:sp>
      <p:pic>
        <p:nvPicPr>
          <p:cNvPr id="89" name="Google Shape;89;p13" title="WES Logo Optimized.png"/>
          <p:cNvPicPr preferRelativeResize="0"/>
          <p:nvPr/>
        </p:nvPicPr>
        <p:blipFill>
          <a:blip r:embed="rId3">
            <a:alphaModFix/>
          </a:blip>
          <a:stretch>
            <a:fillRect/>
          </a:stretch>
        </p:blipFill>
        <p:spPr>
          <a:xfrm>
            <a:off x="7142623" y="3134760"/>
            <a:ext cx="1735601" cy="1735599"/>
          </a:xfrm>
          <a:prstGeom prst="rect">
            <a:avLst/>
          </a:prstGeom>
          <a:noFill/>
          <a:ln>
            <a:noFill/>
          </a:ln>
        </p:spPr>
      </p:pic>
      <p:pic>
        <p:nvPicPr>
          <p:cNvPr id="90" name="Google Shape;90;p13"/>
          <p:cNvPicPr preferRelativeResize="0"/>
          <p:nvPr/>
        </p:nvPicPr>
        <p:blipFill>
          <a:blip r:embed="rId4">
            <a:alphaModFix/>
          </a:blip>
          <a:stretch>
            <a:fillRect/>
          </a:stretch>
        </p:blipFill>
        <p:spPr>
          <a:xfrm>
            <a:off x="235848" y="4180695"/>
            <a:ext cx="2944450" cy="627050"/>
          </a:xfrm>
          <a:prstGeom prst="rect">
            <a:avLst/>
          </a:prstGeom>
          <a:noFill/>
          <a:ln>
            <a:noFill/>
          </a:ln>
        </p:spPr>
      </p:pic>
      <p:pic>
        <p:nvPicPr>
          <p:cNvPr id="91" name="Google Shape;91;p13"/>
          <p:cNvPicPr preferRelativeResize="0"/>
          <p:nvPr/>
        </p:nvPicPr>
        <p:blipFill>
          <a:blip r:embed="rId5">
            <a:alphaModFix/>
          </a:blip>
          <a:stretch>
            <a:fillRect/>
          </a:stretch>
        </p:blipFill>
        <p:spPr>
          <a:xfrm>
            <a:off x="5056675" y="3172925"/>
            <a:ext cx="1946100" cy="1629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Introduction - Let’s know each other</a:t>
            </a:r>
            <a:endParaRPr sz="2400"/>
          </a:p>
        </p:txBody>
      </p:sp>
      <p:sp>
        <p:nvSpPr>
          <p:cNvPr id="97" name="Google Shape;97;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Speaker introduces themselves (background, expertise, experience). Write </a:t>
            </a:r>
            <a:r>
              <a:rPr lang="en-GB" sz="1400" strike="sngStrike">
                <a:solidFill>
                  <a:srgbClr val="212121"/>
                </a:solidFill>
                <a:latin typeface="Source Code Pro"/>
                <a:ea typeface="Source Code Pro"/>
                <a:cs typeface="Source Code Pro"/>
                <a:sym typeface="Source Code Pro"/>
              </a:rPr>
              <a:t>about</a:t>
            </a:r>
            <a:r>
              <a:rPr lang="en-GB" sz="1400" strike="sngStrike">
                <a:solidFill>
                  <a:srgbClr val="212121"/>
                </a:solidFill>
                <a:latin typeface="Source Code Pro"/>
                <a:ea typeface="Source Code Pro"/>
                <a:cs typeface="Source Code Pro"/>
                <a:sym typeface="Source Code Pro"/>
              </a:rPr>
              <a:t> you, use images to depict the story.</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Students introduce themselves briefly (name, class, interest in the topic).</a:t>
            </a:r>
            <a:endParaRPr sz="1100">
              <a:solidFill>
                <a:srgbClr val="000000"/>
              </a:solidFill>
              <a:latin typeface="Arial"/>
              <a:ea typeface="Arial"/>
              <a:cs typeface="Arial"/>
              <a:sym typeface="Arial"/>
            </a:endParaRPr>
          </a:p>
        </p:txBody>
      </p:sp>
      <p:sp>
        <p:nvSpPr>
          <p:cNvPr id="98" name="Google Shape;98;p14"/>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99" name="Google Shape;99;p14"/>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My Career </a:t>
            </a:r>
            <a:r>
              <a:rPr lang="en-GB" sz="2400"/>
              <a:t>Journey</a:t>
            </a:r>
            <a:r>
              <a:rPr lang="en-GB" sz="2400"/>
              <a:t> </a:t>
            </a:r>
            <a:endParaRPr sz="2400"/>
          </a:p>
        </p:txBody>
      </p:sp>
      <p:sp>
        <p:nvSpPr>
          <p:cNvPr id="105" name="Google Shape;105;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Speaker introduces themselves (background, expertise, experience). Write about you, use images to depict the story.</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Students introduce themselves briefly (name, class, interest in the topic).</a:t>
            </a:r>
            <a:endParaRPr sz="1100">
              <a:solidFill>
                <a:srgbClr val="000000"/>
              </a:solidFill>
              <a:latin typeface="Arial"/>
              <a:ea typeface="Arial"/>
              <a:cs typeface="Arial"/>
              <a:sym typeface="Arial"/>
            </a:endParaRPr>
          </a:p>
        </p:txBody>
      </p:sp>
      <p:sp>
        <p:nvSpPr>
          <p:cNvPr id="106" name="Google Shape;106;p15"/>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(more pics)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107" name="Google Shape;107;p15"/>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How Education helped me.</a:t>
            </a:r>
            <a:endParaRPr sz="2400"/>
          </a:p>
        </p:txBody>
      </p:sp>
      <p:sp>
        <p:nvSpPr>
          <p:cNvPr id="113" name="Google Shape;113;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Speaker introduces themselves (background, expertise, experience). Write about you, use images to depict the story.</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Students introduce themselves briefly (name, class, interest in the topic).</a:t>
            </a:r>
            <a:endParaRPr sz="1100">
              <a:solidFill>
                <a:srgbClr val="000000"/>
              </a:solidFill>
              <a:latin typeface="Arial"/>
              <a:ea typeface="Arial"/>
              <a:cs typeface="Arial"/>
              <a:sym typeface="Arial"/>
            </a:endParaRPr>
          </a:p>
        </p:txBody>
      </p:sp>
      <p:sp>
        <p:nvSpPr>
          <p:cNvPr id="114" name="Google Shape;114;p16"/>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(more pics)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115" name="Google Shape;115;p16"/>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Setting expectations - Topic </a:t>
            </a:r>
            <a:r>
              <a:rPr lang="en-GB" sz="2400"/>
              <a:t>brief</a:t>
            </a:r>
            <a:r>
              <a:rPr lang="en-GB" sz="2400"/>
              <a:t> intro and students curiosity on the topic</a:t>
            </a:r>
            <a:endParaRPr sz="2400"/>
          </a:p>
        </p:txBody>
      </p:sp>
      <p:sp>
        <p:nvSpPr>
          <p:cNvPr id="121" name="Google Shape;121;p17"/>
          <p:cNvSpPr txBox="1"/>
          <p:nvPr>
            <p:ph idx="1" type="body"/>
          </p:nvPr>
        </p:nvSpPr>
        <p:spPr>
          <a:xfrm>
            <a:off x="729450" y="23074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Try to understand the curiosity of the students on the topic.</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Make a list of questions students have before the session.</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At the end of the session, try to check how the students got their questions answered.</a:t>
            </a:r>
            <a:endParaRPr sz="1400" strike="sngStrike">
              <a:solidFill>
                <a:srgbClr val="212121"/>
              </a:solidFill>
              <a:latin typeface="Source Code Pro"/>
              <a:ea typeface="Source Code Pro"/>
              <a:cs typeface="Source Code Pro"/>
              <a:sym typeface="Source Code Pro"/>
            </a:endParaRPr>
          </a:p>
        </p:txBody>
      </p:sp>
      <p:sp>
        <p:nvSpPr>
          <p:cNvPr id="122" name="Google Shape;122;p17"/>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a:t>
            </a:r>
            <a:r>
              <a:rPr b="1" lang="en-GB" sz="1100">
                <a:solidFill>
                  <a:srgbClr val="A61C00"/>
                </a:solidFill>
              </a:rPr>
              <a:t>dding written explanations and relevant images will help students understand concepts more clearly, leading to better learning outcomes. </a:t>
            </a:r>
            <a:r>
              <a:rPr b="1" lang="en-GB" sz="1100">
                <a:solidFill>
                  <a:srgbClr val="A61C00"/>
                </a:solidFill>
              </a:rPr>
              <a:t>Once finalized, feel free to remove this note.</a:t>
            </a:r>
            <a:endParaRPr b="1" sz="1300">
              <a:solidFill>
                <a:srgbClr val="A61C00"/>
              </a:solidFill>
              <a:latin typeface="Lato"/>
              <a:ea typeface="Lato"/>
              <a:cs typeface="Lato"/>
              <a:sym typeface="Lato"/>
            </a:endParaRPr>
          </a:p>
        </p:txBody>
      </p:sp>
      <p:sp>
        <p:nvSpPr>
          <p:cNvPr id="123" name="Google Shape;123;p17"/>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What We'll Learn Today &amp; Why It’s Needed &amp; Its Practical Use</a:t>
            </a:r>
            <a:endParaRPr sz="2400"/>
          </a:p>
        </p:txBody>
      </p:sp>
      <p:sp>
        <p:nvSpPr>
          <p:cNvPr id="129" name="Google Shape;129;p18"/>
          <p:cNvSpPr txBox="1"/>
          <p:nvPr>
            <p:ph idx="1" type="body"/>
          </p:nvPr>
        </p:nvSpPr>
        <p:spPr>
          <a:xfrm>
            <a:off x="729450" y="23074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Introduction to the topic and its key concepts in detail.</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Brief overview of what we’ll explore in the session.</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How this topic connects to real-life applications.</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Explains why the topic is important in real life.</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Discusses how students can apply this knowledge in their studies or daily activities.</a:t>
            </a:r>
            <a:endParaRPr sz="1400" strike="sngStrike">
              <a:solidFill>
                <a:srgbClr val="212121"/>
              </a:solidFill>
              <a:latin typeface="Source Code Pro"/>
              <a:ea typeface="Source Code Pro"/>
              <a:cs typeface="Source Code Pro"/>
              <a:sym typeface="Source Code Pro"/>
            </a:endParaRPr>
          </a:p>
        </p:txBody>
      </p:sp>
      <p:sp>
        <p:nvSpPr>
          <p:cNvPr id="130" name="Google Shape;130;p18"/>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131" name="Google Shape;131;p18"/>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AI for Cultural Heritage</a:t>
            </a:r>
            <a:endParaRPr sz="2400"/>
          </a:p>
        </p:txBody>
      </p:sp>
      <p:sp>
        <p:nvSpPr>
          <p:cNvPr id="137" name="Google Shape;137;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strike="sngStrike">
                <a:solidFill>
                  <a:srgbClr val="212121"/>
                </a:solidFill>
                <a:latin typeface="Source Code Pro"/>
                <a:ea typeface="Source Code Pro"/>
                <a:cs typeface="Source Code Pro"/>
                <a:sym typeface="Source Code Pro"/>
              </a:rPr>
              <a:t>Add content here</a:t>
            </a:r>
            <a:endParaRPr sz="1400" strike="sngStrike">
              <a:solidFill>
                <a:srgbClr val="212121"/>
              </a:solidFill>
              <a:latin typeface="Source Code Pro"/>
              <a:ea typeface="Source Code Pro"/>
              <a:cs typeface="Source Code Pro"/>
              <a:sym typeface="Source Code Pro"/>
            </a:endParaRPr>
          </a:p>
        </p:txBody>
      </p:sp>
      <p:sp>
        <p:nvSpPr>
          <p:cNvPr id="138" name="Google Shape;138;p19"/>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139" name="Google Shape;139;p19"/>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0" title="AI_ENG_M7_V21.mp4">
            <a:hlinkClick r:id="rId3"/>
          </p:cNvPr>
          <p:cNvPicPr preferRelativeResize="0"/>
          <p:nvPr/>
        </p:nvPicPr>
        <p:blipFill>
          <a:blip r:embed="rId4">
            <a:alphaModFix/>
          </a:blip>
          <a:stretch>
            <a:fillRect/>
          </a:stretch>
        </p:blipFill>
        <p:spPr>
          <a:xfrm>
            <a:off x="572000" y="669575"/>
            <a:ext cx="8000002" cy="3999775"/>
          </a:xfrm>
          <a:prstGeom prst="rect">
            <a:avLst/>
          </a:prstGeom>
          <a:noFill/>
          <a:ln>
            <a:noFill/>
          </a:ln>
        </p:spPr>
      </p:pic>
      <p:sp>
        <p:nvSpPr>
          <p:cNvPr id="145" name="Google Shape;145;p20"/>
          <p:cNvSpPr txBox="1"/>
          <p:nvPr/>
        </p:nvSpPr>
        <p:spPr>
          <a:xfrm>
            <a:off x="8067775" y="4823025"/>
            <a:ext cx="10095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10</a:t>
            </a:r>
            <a:r>
              <a:rPr b="1" lang="en-GB" sz="1300">
                <a:solidFill>
                  <a:schemeClr val="accent1"/>
                </a:solidFill>
                <a:latin typeface="Lato"/>
                <a:ea typeface="Lato"/>
                <a:cs typeface="Lato"/>
                <a:sym typeface="Lato"/>
              </a:rPr>
              <a:t> Min</a:t>
            </a:r>
            <a:endParaRPr b="1" sz="1300">
              <a:solidFill>
                <a:schemeClr val="accent1"/>
              </a:solidFill>
              <a:latin typeface="Lato"/>
              <a:ea typeface="Lato"/>
              <a:cs typeface="Lato"/>
              <a:sym typeface="Lato"/>
            </a:endParaRPr>
          </a:p>
        </p:txBody>
      </p:sp>
      <p:sp>
        <p:nvSpPr>
          <p:cNvPr id="146" name="Google Shape;146;p20"/>
          <p:cNvSpPr txBox="1"/>
          <p:nvPr>
            <p:ph idx="4294967295" type="title"/>
          </p:nvPr>
        </p:nvSpPr>
        <p:spPr>
          <a:xfrm>
            <a:off x="572000" y="134375"/>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Lets Watch a video - </a:t>
            </a:r>
            <a:r>
              <a:rPr lang="en-GB" sz="2400">
                <a:highlight>
                  <a:srgbClr val="FFFF00"/>
                </a:highlight>
              </a:rPr>
              <a:t>Add video here</a:t>
            </a:r>
            <a:endParaRPr sz="2400">
              <a:highlight>
                <a:srgbClr val="FFFF00"/>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Teacher demonstrates the topic in action (screen sharing, live demo). </a:t>
            </a:r>
            <a:r>
              <a:rPr lang="en-GB" sz="1400" strike="sngStrike">
                <a:solidFill>
                  <a:srgbClr val="212121"/>
                </a:solidFill>
                <a:latin typeface="Source Code Pro"/>
                <a:ea typeface="Source Code Pro"/>
                <a:cs typeface="Source Code Pro"/>
                <a:sym typeface="Source Code Pro"/>
              </a:rPr>
              <a:t>Add what actual we’ll do.</a:t>
            </a:r>
            <a:endParaRPr sz="1400" strike="sngStrike">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Students observe and follow along.</a:t>
            </a:r>
            <a:endParaRPr sz="1400">
              <a:solidFill>
                <a:srgbClr val="212121"/>
              </a:solidFill>
              <a:latin typeface="Source Code Pro"/>
              <a:ea typeface="Source Code Pro"/>
              <a:cs typeface="Source Code Pro"/>
              <a:sym typeface="Source Code Pro"/>
            </a:endParaRPr>
          </a:p>
        </p:txBody>
      </p:sp>
      <p:sp>
        <p:nvSpPr>
          <p:cNvPr id="152" name="Google Shape;152;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Hands-on Practical</a:t>
            </a:r>
            <a:endParaRPr sz="2400"/>
          </a:p>
        </p:txBody>
      </p:sp>
      <p:sp>
        <p:nvSpPr>
          <p:cNvPr id="153" name="Google Shape;153;p21"/>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154" name="Google Shape;154;p21"/>
          <p:cNvSpPr txBox="1"/>
          <p:nvPr/>
        </p:nvSpPr>
        <p:spPr>
          <a:xfrm>
            <a:off x="8418150" y="4823025"/>
            <a:ext cx="6591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5 Min</a:t>
            </a:r>
            <a:endParaRPr b="1"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Get Ready!</a:t>
            </a:r>
            <a:br>
              <a:rPr lang="en-GB"/>
            </a:br>
            <a:r>
              <a:rPr lang="en-GB"/>
              <a:t>It’s </a:t>
            </a:r>
            <a:r>
              <a:rPr lang="en-GB"/>
              <a:t>Quiz </a:t>
            </a:r>
            <a:r>
              <a:rPr lang="en-GB"/>
              <a:t>Time</a:t>
            </a:r>
            <a:endParaRPr/>
          </a:p>
        </p:txBody>
      </p:sp>
      <p:sp>
        <p:nvSpPr>
          <p:cNvPr id="160" name="Google Shape;160;p22"/>
          <p:cNvSpPr txBox="1"/>
          <p:nvPr/>
        </p:nvSpPr>
        <p:spPr>
          <a:xfrm>
            <a:off x="8308125" y="4823025"/>
            <a:ext cx="769200" cy="2643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chemeClr val="accent1"/>
                </a:solidFill>
                <a:latin typeface="Lato"/>
                <a:ea typeface="Lato"/>
                <a:cs typeface="Lato"/>
                <a:sym typeface="Lato"/>
              </a:rPr>
              <a:t>10</a:t>
            </a:r>
            <a:r>
              <a:rPr b="1" lang="en-GB" sz="1300">
                <a:solidFill>
                  <a:schemeClr val="accent1"/>
                </a:solidFill>
                <a:latin typeface="Lato"/>
                <a:ea typeface="Lato"/>
                <a:cs typeface="Lato"/>
                <a:sym typeface="Lato"/>
              </a:rPr>
              <a:t> Min</a:t>
            </a:r>
            <a:endParaRPr b="1" sz="130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23"/>
          <p:cNvSpPr txBox="1"/>
          <p:nvPr>
            <p:ph type="title"/>
          </p:nvPr>
        </p:nvSpPr>
        <p:spPr>
          <a:xfrm>
            <a:off x="94550" y="1220599"/>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1</a:t>
            </a:r>
            <a:endParaRPr sz="1400"/>
          </a:p>
        </p:txBody>
      </p:sp>
      <p:sp>
        <p:nvSpPr>
          <p:cNvPr id="166" name="Google Shape;166;p23"/>
          <p:cNvSpPr txBox="1"/>
          <p:nvPr>
            <p:ph type="title"/>
          </p:nvPr>
        </p:nvSpPr>
        <p:spPr>
          <a:xfrm>
            <a:off x="94550" y="1793999"/>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spcBef>
                <a:spcPts val="0"/>
              </a:spcBef>
              <a:spcAft>
                <a:spcPts val="0"/>
              </a:spcAft>
              <a:buNone/>
            </a:pPr>
            <a:r>
              <a:rPr b="0" lang="en-GB" sz="2366">
                <a:solidFill>
                  <a:srgbClr val="000000"/>
                </a:solidFill>
                <a:latin typeface="Arial"/>
                <a:ea typeface="Arial"/>
                <a:cs typeface="Arial"/>
                <a:sym typeface="Arial"/>
              </a:rPr>
              <a:t>Q1. What does “AR” stand for in the context of immersive technologies?</a:t>
            </a:r>
            <a:endParaRPr b="0" sz="2366">
              <a:solidFill>
                <a:srgbClr val="000000"/>
              </a:solidFill>
              <a:latin typeface="Arial"/>
              <a:ea typeface="Arial"/>
              <a:cs typeface="Arial"/>
              <a:sym typeface="Arial"/>
            </a:endParaRPr>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AutoNum type="alphaUcPeriod"/>
            </a:pPr>
            <a:r>
              <a:rPr lang="en-GB" sz="1700"/>
              <a:t>Advanced Reality</a:t>
            </a:r>
            <a:endParaRPr sz="1700"/>
          </a:p>
          <a:p>
            <a:pPr indent="-336550" lvl="0" marL="457200" rtl="0" algn="l">
              <a:spcBef>
                <a:spcPts val="0"/>
              </a:spcBef>
              <a:spcAft>
                <a:spcPts val="0"/>
              </a:spcAft>
              <a:buSzPts val="1700"/>
              <a:buAutoNum type="alphaUcPeriod"/>
            </a:pPr>
            <a:r>
              <a:rPr lang="en-GB" sz="1700"/>
              <a:t>Augmented Reality</a:t>
            </a:r>
            <a:endParaRPr sz="1700"/>
          </a:p>
          <a:p>
            <a:pPr indent="-336550" lvl="0" marL="457200" rtl="0" algn="l">
              <a:spcBef>
                <a:spcPts val="0"/>
              </a:spcBef>
              <a:spcAft>
                <a:spcPts val="0"/>
              </a:spcAft>
              <a:buSzPts val="1700"/>
              <a:buAutoNum type="alphaUcPeriod"/>
            </a:pPr>
            <a:r>
              <a:rPr lang="en-GB" sz="1700"/>
              <a:t>Altered Rendering</a:t>
            </a:r>
            <a:endParaRPr sz="1700"/>
          </a:p>
          <a:p>
            <a:pPr indent="-336550" lvl="0" marL="457200" rtl="0" algn="l">
              <a:spcBef>
                <a:spcPts val="0"/>
              </a:spcBef>
              <a:spcAft>
                <a:spcPts val="0"/>
              </a:spcAft>
              <a:buSzPts val="1700"/>
              <a:buAutoNum type="alphaUcPeriod"/>
            </a:pPr>
            <a:r>
              <a:rPr lang="en-GB" sz="1700"/>
              <a:t>Artificial Rendering</a:t>
            </a:r>
            <a:endParaRPr sz="1700"/>
          </a:p>
        </p:txBody>
      </p:sp>
      <p:sp>
        <p:nvSpPr>
          <p:cNvPr id="167" name="Google Shape;167;p23"/>
          <p:cNvSpPr txBox="1"/>
          <p:nvPr>
            <p:ph type="title"/>
          </p:nvPr>
        </p:nvSpPr>
        <p:spPr>
          <a:xfrm>
            <a:off x="4648200" y="1220599"/>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2</a:t>
            </a:r>
            <a:endParaRPr sz="1400"/>
          </a:p>
        </p:txBody>
      </p:sp>
      <p:sp>
        <p:nvSpPr>
          <p:cNvPr id="168" name="Google Shape;168;p23"/>
          <p:cNvSpPr txBox="1"/>
          <p:nvPr>
            <p:ph type="title"/>
          </p:nvPr>
        </p:nvSpPr>
        <p:spPr>
          <a:xfrm>
            <a:off x="4648200" y="1793999"/>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9455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3</a:t>
            </a:r>
            <a:endParaRPr sz="1400"/>
          </a:p>
        </p:txBody>
      </p:sp>
      <p:sp>
        <p:nvSpPr>
          <p:cNvPr id="174" name="Google Shape;174;p24"/>
          <p:cNvSpPr txBox="1"/>
          <p:nvPr>
            <p:ph type="title"/>
          </p:nvPr>
        </p:nvSpPr>
        <p:spPr>
          <a:xfrm>
            <a:off x="9455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
        <p:nvSpPr>
          <p:cNvPr id="175" name="Google Shape;175;p24"/>
          <p:cNvSpPr txBox="1"/>
          <p:nvPr>
            <p:ph type="title"/>
          </p:nvPr>
        </p:nvSpPr>
        <p:spPr>
          <a:xfrm>
            <a:off x="464820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4</a:t>
            </a:r>
            <a:endParaRPr sz="1400"/>
          </a:p>
        </p:txBody>
      </p:sp>
      <p:sp>
        <p:nvSpPr>
          <p:cNvPr id="176" name="Google Shape;176;p24"/>
          <p:cNvSpPr txBox="1"/>
          <p:nvPr>
            <p:ph type="title"/>
          </p:nvPr>
        </p:nvSpPr>
        <p:spPr>
          <a:xfrm>
            <a:off x="464820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9455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5</a:t>
            </a:r>
            <a:endParaRPr sz="1400"/>
          </a:p>
        </p:txBody>
      </p:sp>
      <p:sp>
        <p:nvSpPr>
          <p:cNvPr id="182" name="Google Shape;182;p25"/>
          <p:cNvSpPr txBox="1"/>
          <p:nvPr>
            <p:ph type="title"/>
          </p:nvPr>
        </p:nvSpPr>
        <p:spPr>
          <a:xfrm>
            <a:off x="9455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
        <p:nvSpPr>
          <p:cNvPr id="183" name="Google Shape;183;p25"/>
          <p:cNvSpPr txBox="1"/>
          <p:nvPr>
            <p:ph type="title"/>
          </p:nvPr>
        </p:nvSpPr>
        <p:spPr>
          <a:xfrm>
            <a:off x="464820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6</a:t>
            </a:r>
            <a:endParaRPr sz="1400"/>
          </a:p>
        </p:txBody>
      </p:sp>
      <p:sp>
        <p:nvSpPr>
          <p:cNvPr id="184" name="Google Shape;184;p25"/>
          <p:cNvSpPr txBox="1"/>
          <p:nvPr>
            <p:ph type="title"/>
          </p:nvPr>
        </p:nvSpPr>
        <p:spPr>
          <a:xfrm>
            <a:off x="464820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9455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7</a:t>
            </a:r>
            <a:endParaRPr sz="1400"/>
          </a:p>
        </p:txBody>
      </p:sp>
      <p:sp>
        <p:nvSpPr>
          <p:cNvPr id="190" name="Google Shape;190;p26"/>
          <p:cNvSpPr txBox="1"/>
          <p:nvPr>
            <p:ph type="title"/>
          </p:nvPr>
        </p:nvSpPr>
        <p:spPr>
          <a:xfrm>
            <a:off x="9455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
        <p:nvSpPr>
          <p:cNvPr id="191" name="Google Shape;191;p26"/>
          <p:cNvSpPr txBox="1"/>
          <p:nvPr>
            <p:ph type="title"/>
          </p:nvPr>
        </p:nvSpPr>
        <p:spPr>
          <a:xfrm>
            <a:off x="464820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8</a:t>
            </a:r>
            <a:endParaRPr sz="1400"/>
          </a:p>
        </p:txBody>
      </p:sp>
      <p:sp>
        <p:nvSpPr>
          <p:cNvPr id="192" name="Google Shape;192;p26"/>
          <p:cNvSpPr txBox="1"/>
          <p:nvPr>
            <p:ph type="title"/>
          </p:nvPr>
        </p:nvSpPr>
        <p:spPr>
          <a:xfrm>
            <a:off x="464820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7"/>
          <p:cNvSpPr txBox="1"/>
          <p:nvPr>
            <p:ph type="title"/>
          </p:nvPr>
        </p:nvSpPr>
        <p:spPr>
          <a:xfrm>
            <a:off x="9455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9</a:t>
            </a:r>
            <a:endParaRPr sz="1400"/>
          </a:p>
        </p:txBody>
      </p:sp>
      <p:sp>
        <p:nvSpPr>
          <p:cNvPr id="198" name="Google Shape;198;p27"/>
          <p:cNvSpPr txBox="1"/>
          <p:nvPr>
            <p:ph type="title"/>
          </p:nvPr>
        </p:nvSpPr>
        <p:spPr>
          <a:xfrm>
            <a:off x="9455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
        <p:nvSpPr>
          <p:cNvPr id="199" name="Google Shape;199;p27"/>
          <p:cNvSpPr txBox="1"/>
          <p:nvPr>
            <p:ph type="title"/>
          </p:nvPr>
        </p:nvSpPr>
        <p:spPr>
          <a:xfrm>
            <a:off x="4648200" y="1318650"/>
            <a:ext cx="4406100" cy="4623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Question 10</a:t>
            </a:r>
            <a:endParaRPr sz="1400"/>
          </a:p>
        </p:txBody>
      </p:sp>
      <p:sp>
        <p:nvSpPr>
          <p:cNvPr id="200" name="Google Shape;200;p27"/>
          <p:cNvSpPr txBox="1"/>
          <p:nvPr>
            <p:ph type="title"/>
          </p:nvPr>
        </p:nvSpPr>
        <p:spPr>
          <a:xfrm>
            <a:off x="464820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sz="1400"/>
              <a:t>Write the question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08610" lvl="0" marL="457200" rtl="0" algn="l">
              <a:spcBef>
                <a:spcPts val="0"/>
              </a:spcBef>
              <a:spcAft>
                <a:spcPts val="0"/>
              </a:spcAft>
              <a:buSzPct val="100000"/>
              <a:buAutoNum type="alphaUcPeriod"/>
            </a:pPr>
            <a:r>
              <a:rPr lang="en-GB" sz="1400"/>
              <a:t>Option 1</a:t>
            </a:r>
            <a:endParaRPr sz="1400"/>
          </a:p>
          <a:p>
            <a:pPr indent="-308610" lvl="0" marL="457200" rtl="0" algn="l">
              <a:spcBef>
                <a:spcPts val="0"/>
              </a:spcBef>
              <a:spcAft>
                <a:spcPts val="0"/>
              </a:spcAft>
              <a:buSzPct val="100000"/>
              <a:buAutoNum type="alphaUcPeriod"/>
            </a:pPr>
            <a:r>
              <a:rPr lang="en-GB" sz="1400"/>
              <a:t>Option 2</a:t>
            </a:r>
            <a:endParaRPr sz="1400"/>
          </a:p>
          <a:p>
            <a:pPr indent="-308610" lvl="0" marL="457200" rtl="0" algn="l">
              <a:spcBef>
                <a:spcPts val="0"/>
              </a:spcBef>
              <a:spcAft>
                <a:spcPts val="0"/>
              </a:spcAft>
              <a:buSzPct val="100000"/>
              <a:buAutoNum type="alphaUcPeriod"/>
            </a:pPr>
            <a:r>
              <a:rPr lang="en-GB" sz="1400"/>
              <a:t>Option 3</a:t>
            </a:r>
            <a:endParaRPr sz="1400"/>
          </a:p>
          <a:p>
            <a:pPr indent="-308610" lvl="0" marL="457200" rtl="0" algn="l">
              <a:spcBef>
                <a:spcPts val="0"/>
              </a:spcBef>
              <a:spcAft>
                <a:spcPts val="0"/>
              </a:spcAft>
              <a:buSzPct val="100000"/>
              <a:buAutoNum type="alphaUcPeriod"/>
            </a:pPr>
            <a:r>
              <a:rPr lang="en-GB" sz="1400"/>
              <a:t>Option 4</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Well Done! </a:t>
            </a:r>
            <a:r>
              <a:rPr lang="en-GB"/>
              <a:t>😊</a:t>
            </a:r>
            <a:br>
              <a:rPr lang="en-GB"/>
            </a:br>
            <a:br>
              <a:rPr lang="en-GB"/>
            </a:br>
            <a:r>
              <a:rPr lang="en-GB"/>
              <a:t>Now let’s see the result…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Answers to quiz questions</a:t>
            </a:r>
            <a:endParaRPr sz="2400"/>
          </a:p>
        </p:txBody>
      </p:sp>
      <p:sp>
        <p:nvSpPr>
          <p:cNvPr id="211" name="Google Shape;211;p29"/>
          <p:cNvSpPr txBox="1"/>
          <p:nvPr>
            <p:ph type="title"/>
          </p:nvPr>
        </p:nvSpPr>
        <p:spPr>
          <a:xfrm>
            <a:off x="9455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457200" lvl="0" marL="457200" rtl="0" algn="ctr">
              <a:spcBef>
                <a:spcPts val="0"/>
              </a:spcBef>
              <a:spcAft>
                <a:spcPts val="0"/>
              </a:spcAft>
              <a:buSzPts val="3600"/>
              <a:buAutoNum type="arabicPeriod"/>
            </a:pPr>
            <a:r>
              <a:rPr lang="en-GB" sz="3600"/>
              <a:t>A</a:t>
            </a:r>
            <a:endParaRPr sz="3600"/>
          </a:p>
          <a:p>
            <a:pPr indent="-457200" lvl="0" marL="457200" rtl="0" algn="ctr">
              <a:spcBef>
                <a:spcPts val="0"/>
              </a:spcBef>
              <a:spcAft>
                <a:spcPts val="0"/>
              </a:spcAft>
              <a:buSzPts val="3600"/>
              <a:buAutoNum type="arabicPeriod"/>
            </a:pPr>
            <a:r>
              <a:rPr lang="en-GB" sz="3600"/>
              <a:t>A</a:t>
            </a:r>
            <a:endParaRPr sz="3600"/>
          </a:p>
          <a:p>
            <a:pPr indent="-457200" lvl="0" marL="457200" rtl="0" algn="ctr">
              <a:spcBef>
                <a:spcPts val="0"/>
              </a:spcBef>
              <a:spcAft>
                <a:spcPts val="0"/>
              </a:spcAft>
              <a:buSzPts val="3600"/>
              <a:buAutoNum type="arabicPeriod"/>
            </a:pPr>
            <a:r>
              <a:rPr lang="en-GB" sz="3600"/>
              <a:t>A</a:t>
            </a:r>
            <a:endParaRPr sz="3600"/>
          </a:p>
          <a:p>
            <a:pPr indent="-457200" lvl="0" marL="457200" rtl="0" algn="ctr">
              <a:spcBef>
                <a:spcPts val="0"/>
              </a:spcBef>
              <a:spcAft>
                <a:spcPts val="0"/>
              </a:spcAft>
              <a:buSzPts val="3600"/>
              <a:buAutoNum type="arabicPeriod"/>
            </a:pPr>
            <a:r>
              <a:rPr lang="en-GB" sz="3600"/>
              <a:t>A</a:t>
            </a:r>
            <a:endParaRPr sz="3600"/>
          </a:p>
          <a:p>
            <a:pPr indent="-457200" lvl="0" marL="457200" rtl="0" algn="ctr">
              <a:spcBef>
                <a:spcPts val="0"/>
              </a:spcBef>
              <a:spcAft>
                <a:spcPts val="0"/>
              </a:spcAft>
              <a:buSzPts val="3600"/>
              <a:buAutoNum type="arabicPeriod"/>
            </a:pPr>
            <a:r>
              <a:rPr lang="en-GB" sz="3600"/>
              <a:t>A</a:t>
            </a:r>
            <a:endParaRPr sz="3600"/>
          </a:p>
        </p:txBody>
      </p:sp>
      <p:sp>
        <p:nvSpPr>
          <p:cNvPr id="212" name="Google Shape;212;p29"/>
          <p:cNvSpPr txBox="1"/>
          <p:nvPr>
            <p:ph type="title"/>
          </p:nvPr>
        </p:nvSpPr>
        <p:spPr>
          <a:xfrm>
            <a:off x="4624600" y="1892050"/>
            <a:ext cx="4406100" cy="31581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457200" lvl="0" marL="457200" rtl="0" algn="ctr">
              <a:spcBef>
                <a:spcPts val="0"/>
              </a:spcBef>
              <a:spcAft>
                <a:spcPts val="0"/>
              </a:spcAft>
              <a:buSzPts val="3600"/>
              <a:buAutoNum type="arabicPeriod" startAt="6"/>
            </a:pPr>
            <a:r>
              <a:rPr lang="en-GB" sz="3600"/>
              <a:t>A</a:t>
            </a:r>
            <a:endParaRPr sz="3600"/>
          </a:p>
          <a:p>
            <a:pPr indent="-457200" lvl="0" marL="457200" rtl="0" algn="ctr">
              <a:spcBef>
                <a:spcPts val="0"/>
              </a:spcBef>
              <a:spcAft>
                <a:spcPts val="0"/>
              </a:spcAft>
              <a:buSzPts val="3600"/>
              <a:buAutoNum type="arabicPeriod" startAt="6"/>
            </a:pPr>
            <a:r>
              <a:rPr lang="en-GB" sz="3600"/>
              <a:t>A</a:t>
            </a:r>
            <a:endParaRPr sz="3600"/>
          </a:p>
          <a:p>
            <a:pPr indent="-457200" lvl="0" marL="457200" rtl="0" algn="ctr">
              <a:spcBef>
                <a:spcPts val="0"/>
              </a:spcBef>
              <a:spcAft>
                <a:spcPts val="0"/>
              </a:spcAft>
              <a:buSzPts val="3600"/>
              <a:buAutoNum type="arabicPeriod" startAt="6"/>
            </a:pPr>
            <a:r>
              <a:rPr lang="en-GB" sz="3600"/>
              <a:t>A</a:t>
            </a:r>
            <a:endParaRPr sz="3600"/>
          </a:p>
          <a:p>
            <a:pPr indent="-457200" lvl="0" marL="457200" rtl="0" algn="ctr">
              <a:spcBef>
                <a:spcPts val="0"/>
              </a:spcBef>
              <a:spcAft>
                <a:spcPts val="0"/>
              </a:spcAft>
              <a:buSzPts val="3600"/>
              <a:buAutoNum type="arabicPeriod" startAt="6"/>
            </a:pPr>
            <a:r>
              <a:rPr lang="en-GB" sz="3600"/>
              <a:t>A</a:t>
            </a:r>
            <a:endParaRPr sz="3600"/>
          </a:p>
          <a:p>
            <a:pPr indent="-457200" lvl="0" marL="457200" rtl="0" algn="ctr">
              <a:spcBef>
                <a:spcPts val="0"/>
              </a:spcBef>
              <a:spcAft>
                <a:spcPts val="0"/>
              </a:spcAft>
              <a:buSzPts val="3600"/>
              <a:buAutoNum type="arabicPeriod" startAt="6"/>
            </a:pPr>
            <a:r>
              <a:rPr lang="en-GB" sz="3600"/>
              <a:t>A</a:t>
            </a:r>
            <a:endParaRPr sz="3600"/>
          </a:p>
        </p:txBody>
      </p:sp>
      <p:sp>
        <p:nvSpPr>
          <p:cNvPr id="213" name="Google Shape;213;p29"/>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Write</a:t>
            </a:r>
            <a:r>
              <a:rPr b="1" lang="en-GB" sz="1100">
                <a:solidFill>
                  <a:srgbClr val="A61C00"/>
                </a:solidFill>
              </a:rPr>
              <a:t> correct answers. </a:t>
            </a:r>
            <a:r>
              <a:rPr b="1" lang="en-GB" sz="1100">
                <a:solidFill>
                  <a:srgbClr val="A61C00"/>
                </a:solidFill>
              </a:rPr>
              <a:t>Once finalized, feel free to remove this note.</a:t>
            </a:r>
            <a:endParaRPr b="1" sz="1300">
              <a:solidFill>
                <a:srgbClr val="A61C00"/>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nvSpPr>
        <p:spPr>
          <a:xfrm>
            <a:off x="729450" y="2043300"/>
            <a:ext cx="7393800" cy="916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lt1"/>
              </a:buClr>
              <a:buSzPts val="1400"/>
              <a:buFont typeface="Source Code Pro"/>
              <a:buChar char="●"/>
            </a:pPr>
            <a:r>
              <a:rPr lang="en-GB">
                <a:solidFill>
                  <a:schemeClr val="lt1"/>
                </a:solidFill>
                <a:latin typeface="Source Code Pro"/>
                <a:ea typeface="Source Code Pro"/>
                <a:cs typeface="Source Code Pro"/>
                <a:sym typeface="Source Code Pro"/>
              </a:rPr>
              <a:t>Teacher reviews answers and announces results.</a:t>
            </a:r>
            <a:endParaRPr>
              <a:solidFill>
                <a:schemeClr val="lt1"/>
              </a:solidFill>
              <a:latin typeface="Source Code Pro"/>
              <a:ea typeface="Source Code Pro"/>
              <a:cs typeface="Source Code Pro"/>
              <a:sym typeface="Source Code Pro"/>
            </a:endParaRPr>
          </a:p>
          <a:p>
            <a:pPr indent="-317500" lvl="0" marL="457200" rtl="0" algn="l">
              <a:lnSpc>
                <a:spcPct val="115000"/>
              </a:lnSpc>
              <a:spcBef>
                <a:spcPts val="0"/>
              </a:spcBef>
              <a:spcAft>
                <a:spcPts val="0"/>
              </a:spcAft>
              <a:buClr>
                <a:schemeClr val="lt1"/>
              </a:buClr>
              <a:buSzPts val="1400"/>
              <a:buFont typeface="Source Code Pro"/>
              <a:buChar char="●"/>
            </a:pPr>
            <a:r>
              <a:rPr lang="en-GB">
                <a:solidFill>
                  <a:schemeClr val="lt1"/>
                </a:solidFill>
                <a:latin typeface="Source Code Pro"/>
                <a:ea typeface="Source Code Pro"/>
                <a:cs typeface="Source Code Pro"/>
                <a:sym typeface="Source Code Pro"/>
              </a:rPr>
              <a:t>Brief feedback on performance.</a:t>
            </a:r>
            <a:endParaRPr>
              <a:solidFill>
                <a:schemeClr val="lt1"/>
              </a:solidFill>
              <a:latin typeface="Source Code Pro"/>
              <a:ea typeface="Source Code Pro"/>
              <a:cs typeface="Source Code Pro"/>
              <a:sym typeface="Source Code Pro"/>
            </a:endParaRPr>
          </a:p>
          <a:p>
            <a:pPr indent="-317500" lvl="0" marL="457200" rtl="0" algn="l">
              <a:lnSpc>
                <a:spcPct val="115000"/>
              </a:lnSpc>
              <a:spcBef>
                <a:spcPts val="0"/>
              </a:spcBef>
              <a:spcAft>
                <a:spcPts val="0"/>
              </a:spcAft>
              <a:buClr>
                <a:schemeClr val="lt1"/>
              </a:buClr>
              <a:buSzPts val="1400"/>
              <a:buFont typeface="Source Code Pro"/>
              <a:buChar char="●"/>
            </a:pPr>
            <a:r>
              <a:rPr lang="en-GB">
                <a:solidFill>
                  <a:schemeClr val="lt1"/>
                </a:solidFill>
                <a:latin typeface="Source Code Pro"/>
                <a:ea typeface="Source Code Pro"/>
                <a:cs typeface="Source Code Pro"/>
                <a:sym typeface="Source Code Pro"/>
              </a:rPr>
              <a:t>Reward the winner</a:t>
            </a:r>
            <a:endParaRPr sz="1300">
              <a:solidFill>
                <a:schemeClr val="lt1"/>
              </a:solidFill>
              <a:latin typeface="Lato"/>
              <a:ea typeface="Lato"/>
              <a:cs typeface="Lato"/>
              <a:sym typeface="Lato"/>
            </a:endParaRPr>
          </a:p>
        </p:txBody>
      </p:sp>
      <p:sp>
        <p:nvSpPr>
          <p:cNvPr id="219" name="Google Shape;219;p30"/>
          <p:cNvSpPr txBox="1"/>
          <p:nvPr/>
        </p:nvSpPr>
        <p:spPr>
          <a:xfrm>
            <a:off x="729450" y="3726300"/>
            <a:ext cx="7270800" cy="141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a:solidFill>
                  <a:srgbClr val="FFFFFF"/>
                </a:solidFill>
              </a:rPr>
              <a:t>Winning Criteria:</a:t>
            </a:r>
            <a:endParaRPr b="1">
              <a:solidFill>
                <a:srgbClr val="FFFFFF"/>
              </a:solidFill>
            </a:endParaRPr>
          </a:p>
          <a:p>
            <a:pPr indent="-304800" lvl="0" marL="457200" rtl="0" algn="l">
              <a:lnSpc>
                <a:spcPct val="115000"/>
              </a:lnSpc>
              <a:spcBef>
                <a:spcPts val="1200"/>
              </a:spcBef>
              <a:spcAft>
                <a:spcPts val="0"/>
              </a:spcAft>
              <a:buClr>
                <a:srgbClr val="FFFFFF"/>
              </a:buClr>
              <a:buSzPts val="1200"/>
              <a:buChar char="●"/>
            </a:pPr>
            <a:r>
              <a:rPr lang="en-GB" sz="1200">
                <a:solidFill>
                  <a:srgbClr val="FFFFFF"/>
                </a:solidFill>
              </a:rPr>
              <a:t>If one student scores the highest, they are the winner.</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GB" sz="1200">
                <a:solidFill>
                  <a:srgbClr val="FFFFFF"/>
                </a:solidFill>
              </a:rPr>
              <a:t>In case of a tie, students will explain their answers using their learning sheets.</a:t>
            </a:r>
            <a:endParaRPr sz="1200">
              <a:solidFill>
                <a:srgbClr val="FFFFFF"/>
              </a:solidFill>
            </a:endParaRPr>
          </a:p>
          <a:p>
            <a:pPr indent="-304800" lvl="0" marL="457200" rtl="0" algn="l">
              <a:lnSpc>
                <a:spcPct val="115000"/>
              </a:lnSpc>
              <a:spcBef>
                <a:spcPts val="0"/>
              </a:spcBef>
              <a:spcAft>
                <a:spcPts val="0"/>
              </a:spcAft>
              <a:buClr>
                <a:srgbClr val="FFFFFF"/>
              </a:buClr>
              <a:buSzPts val="1200"/>
              <a:buChar char="●"/>
            </a:pPr>
            <a:r>
              <a:rPr lang="en-GB" sz="1200">
                <a:solidFill>
                  <a:srgbClr val="FFFFFF"/>
                </a:solidFill>
              </a:rPr>
              <a:t>The student with the most well-explained and closest answer will earn additional points and be declared the winner! 🚀</a:t>
            </a:r>
            <a:endParaRPr sz="1200">
              <a:solidFill>
                <a:srgbClr val="FFFFFF"/>
              </a:solidFill>
            </a:endParaRPr>
          </a:p>
        </p:txBody>
      </p:sp>
      <p:sp>
        <p:nvSpPr>
          <p:cNvPr id="220" name="Google Shape;220;p30"/>
          <p:cNvSpPr txBox="1"/>
          <p:nvPr>
            <p:ph type="title"/>
          </p:nvPr>
        </p:nvSpPr>
        <p:spPr>
          <a:xfrm>
            <a:off x="729450" y="1322450"/>
            <a:ext cx="7688400" cy="77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Let’s See Who Our Winner Is!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Students reflect on key takeaways.</a:t>
            </a:r>
            <a:endParaRPr sz="1400">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Discussion on how they will use the knowledge in the future.</a:t>
            </a:r>
            <a:endParaRPr/>
          </a:p>
        </p:txBody>
      </p:sp>
      <p:sp>
        <p:nvSpPr>
          <p:cNvPr id="226" name="Google Shape;226;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Final Discussion &amp; Application</a:t>
            </a:r>
            <a:endParaRPr sz="2400"/>
          </a:p>
        </p:txBody>
      </p:sp>
      <p:sp>
        <p:nvSpPr>
          <p:cNvPr id="227" name="Google Shape;227;p31"/>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nvSpPr>
        <p:spPr>
          <a:xfrm>
            <a:off x="917700" y="218550"/>
            <a:ext cx="73086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Please personalizing the content with real examples and visuals will make the session more engaging and effective. Adding written explanations and relevant images will help students understand concepts more clearly, leading to better learning outcomes. Once finalized, feel free to remove this note.</a:t>
            </a:r>
            <a:endParaRPr b="1" sz="1300">
              <a:solidFill>
                <a:srgbClr val="A61C00"/>
              </a:solidFill>
              <a:latin typeface="Lato"/>
              <a:ea typeface="Lato"/>
              <a:cs typeface="Lato"/>
              <a:sym typeface="Lato"/>
            </a:endParaRPr>
          </a:p>
        </p:txBody>
      </p:sp>
      <p:sp>
        <p:nvSpPr>
          <p:cNvPr id="233" name="Google Shape;233;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Next Session, Homework</a:t>
            </a:r>
            <a:r>
              <a:rPr lang="en-GB" sz="2400"/>
              <a:t> &amp; Assignments</a:t>
            </a:r>
            <a:endParaRPr sz="2400"/>
          </a:p>
        </p:txBody>
      </p:sp>
      <p:sp>
        <p:nvSpPr>
          <p:cNvPr id="234" name="Google Shape;234;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Please indicate tentative next session date.</a:t>
            </a:r>
            <a:endParaRPr sz="1400">
              <a:solidFill>
                <a:srgbClr val="212121"/>
              </a:solidFill>
              <a:latin typeface="Source Code Pro"/>
              <a:ea typeface="Source Code Pro"/>
              <a:cs typeface="Source Code Pro"/>
              <a:sym typeface="Source Code Pro"/>
            </a:endParaRPr>
          </a:p>
          <a:p>
            <a:pPr indent="-317500" lvl="0" marL="457200" marR="0" rtl="0" algn="l">
              <a:lnSpc>
                <a:spcPct val="115000"/>
              </a:lnSpc>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Please mention the homework the students must complete before the next session.</a:t>
            </a:r>
            <a:endParaRPr sz="1400">
              <a:solidFill>
                <a:srgbClr val="212121"/>
              </a:solidFill>
              <a:latin typeface="Source Code Pro"/>
              <a:ea typeface="Source Code Pro"/>
              <a:cs typeface="Source Code Pro"/>
              <a:sym typeface="Source Code Pro"/>
            </a:endParaRPr>
          </a:p>
          <a:p>
            <a:pPr indent="-317500" lvl="0" marL="457200" marR="0" rtl="0" algn="l">
              <a:lnSpc>
                <a:spcPct val="115000"/>
              </a:lnSpc>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Please include the expectation you have from the assignment and how can students meet those expectations and more important how can they exceed the expectations.</a:t>
            </a:r>
            <a:endParaRPr sz="1400">
              <a:solidFill>
                <a:srgbClr val="212121"/>
              </a:solidFill>
              <a:latin typeface="Source Code Pro"/>
              <a:ea typeface="Source Code Pro"/>
              <a:cs typeface="Source Code Pro"/>
              <a:sym typeface="Source Code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lang="en-GB" sz="2400"/>
              <a:t>Next Steps &amp; Closing</a:t>
            </a:r>
            <a:endParaRPr sz="2400"/>
          </a:p>
        </p:txBody>
      </p:sp>
      <p:sp>
        <p:nvSpPr>
          <p:cNvPr id="240" name="Google Shape;240;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Recap of important points.</a:t>
            </a:r>
            <a:endParaRPr sz="1400">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Guidance on additional resources or assignments.</a:t>
            </a:r>
            <a:endParaRPr sz="1400">
              <a:solidFill>
                <a:srgbClr val="212121"/>
              </a:solidFill>
              <a:latin typeface="Source Code Pro"/>
              <a:ea typeface="Source Code Pro"/>
              <a:cs typeface="Source Code Pro"/>
              <a:sym typeface="Source Code Pro"/>
            </a:endParaRPr>
          </a:p>
          <a:p>
            <a:pPr indent="-317500" lvl="0" marL="457200" rtl="0" algn="l">
              <a:spcBef>
                <a:spcPts val="0"/>
              </a:spcBef>
              <a:spcAft>
                <a:spcPts val="0"/>
              </a:spcAft>
              <a:buClr>
                <a:srgbClr val="212121"/>
              </a:buClr>
              <a:buSzPts val="1400"/>
              <a:buFont typeface="Source Code Pro"/>
              <a:buChar char="●"/>
            </a:pPr>
            <a:r>
              <a:rPr lang="en-GB" sz="1400">
                <a:solidFill>
                  <a:srgbClr val="212121"/>
                </a:solidFill>
                <a:latin typeface="Source Code Pro"/>
                <a:ea typeface="Source Code Pro"/>
                <a:cs typeface="Source Code Pro"/>
                <a:sym typeface="Source Code Pro"/>
              </a:rPr>
              <a:t>Gratitude group picture &amp; t</a:t>
            </a:r>
            <a:r>
              <a:rPr lang="en-GB" sz="1400">
                <a:solidFill>
                  <a:srgbClr val="212121"/>
                </a:solidFill>
                <a:latin typeface="Source Code Pro"/>
                <a:ea typeface="Source Code Pro"/>
                <a:cs typeface="Source Code Pro"/>
                <a:sym typeface="Source Code Pro"/>
              </a:rPr>
              <a:t>hank you note.</a:t>
            </a:r>
            <a:endParaRPr sz="1400">
              <a:solidFill>
                <a:srgbClr val="212121"/>
              </a:solidFill>
              <a:latin typeface="Source Code Pro"/>
              <a:ea typeface="Source Code Pro"/>
              <a:cs typeface="Source Code Pro"/>
              <a:sym typeface="Source Code Pro"/>
            </a:endParaRPr>
          </a:p>
        </p:txBody>
      </p:sp>
      <p:sp>
        <p:nvSpPr>
          <p:cNvPr id="241" name="Google Shape;241;p33"/>
          <p:cNvSpPr txBox="1"/>
          <p:nvPr/>
        </p:nvSpPr>
        <p:spPr>
          <a:xfrm>
            <a:off x="917700" y="218550"/>
            <a:ext cx="7500300" cy="62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sz="1100">
                <a:solidFill>
                  <a:schemeClr val="lt1"/>
                </a:solidFill>
                <a:highlight>
                  <a:srgbClr val="980000"/>
                </a:highlight>
              </a:rPr>
              <a:t>Note</a:t>
            </a:r>
            <a:r>
              <a:rPr b="1" lang="en-GB" sz="1100">
                <a:solidFill>
                  <a:srgbClr val="A61C00"/>
                </a:solidFill>
              </a:rPr>
              <a:t>:</a:t>
            </a:r>
            <a:r>
              <a:rPr lang="en-GB" sz="1100">
                <a:solidFill>
                  <a:srgbClr val="A61C00"/>
                </a:solidFill>
              </a:rPr>
              <a:t> </a:t>
            </a:r>
            <a:r>
              <a:rPr b="1" lang="en-GB" sz="1100">
                <a:solidFill>
                  <a:srgbClr val="A61C00"/>
                </a:solidFill>
              </a:rPr>
              <a:t>Personalizing the content with real examples and visuals will make the session more engaging and effective. Adding clear explanations and relevant images will enhance student understanding and improve learning outcomes. Once finalized, remove the strikethrough and this note itself.</a:t>
            </a:r>
            <a:endParaRPr b="1" sz="1300">
              <a:solidFill>
                <a:srgbClr val="A61C00"/>
              </a:solidFill>
              <a:latin typeface="Lato"/>
              <a:ea typeface="Lato"/>
              <a:cs typeface="Lato"/>
              <a:sym typeface="Lato"/>
            </a:endParaRPr>
          </a:p>
        </p:txBody>
      </p:sp>
      <p:pic>
        <p:nvPicPr>
          <p:cNvPr id="242" name="Google Shape;242;p33"/>
          <p:cNvPicPr preferRelativeResize="0"/>
          <p:nvPr/>
        </p:nvPicPr>
        <p:blipFill>
          <a:blip r:embed="rId3">
            <a:alphaModFix/>
          </a:blip>
          <a:stretch>
            <a:fillRect/>
          </a:stretch>
        </p:blipFill>
        <p:spPr>
          <a:xfrm>
            <a:off x="6659025" y="2697800"/>
            <a:ext cx="2388950" cy="2388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